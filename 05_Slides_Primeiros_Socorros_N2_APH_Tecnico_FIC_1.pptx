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deixando claro que este é o módulo de nível técnico: destina-se a quem tem habilitação para atuar em APH. Participantes do Nível 1 assistem como conhecimento, mas não ficam autorizados a executar os procedimentos apresentados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contrato do curso. Peça que cada participante diga em voz alta qual é a sua habilitação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a transição da NR-10 para demonstrar atualização. O material precisa ser revisado antes de junho de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 X entrou na frente do A porque hemorragia exsanguinante mata em minutos. A ordem é de prioridade de morte.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 em cartaz de divulgação: trocar o conteúdo de C, D e E. C é circulação, D é déficit neurológico e E é exposição com prevenção de hipotermia.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de treino é o escalonamento: ninguém começa pelo torniquete e ninguém insiste na pressão direta enquanto a vítima esvai.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explícito o conflito clássico: quando a imobilização atrapalha a via aérea, a via aérea ganha.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Insista na reavaliação: B muda rápido. Toda intervenção em B exige nova medida e novo registro de horário.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Choque é diagnóstico de perfusão, não de número de pressão. Ensine a leitura rápida pulso-pele-consciência.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registrem AVDI com horário a cada reavaliação. A tendência ao longo do tempo é mais útil que um valor isolado.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Ligue E de volta ao X: hipotermia é problema hemorrágico. Costuma ser o insight que fixa a letra E na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condutas exigem material específico e habilitação. Sem o material, a conduta é proteção, transporte e comunicação.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grave e comum: retirar objeto empalado ou pressionar sobre ele. O objeto pode estar tamponando um vaso.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material real disponível na unidade. Sem curativo valvulado industrializado, a conduta segue o protocolo institucional.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 a estabilidade enganosa da criança: mantém os sinais vitais até muito perto do colapso. Reavaliação seriada é o que salva.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cenários aparecem em obra, área externa e operação em campo. Adapte os exemplos à realidade da 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nãos que precisam ficar: não fazer toque vaginal, não introduzir compressas e não atrasar o transporte.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divisória prática é a alteração do estado mental. Com alteração mental, resfrie imediatamente, sem esperar o transporte.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 que fecha o módulo: a segurança do socorrista vem primeiro. Não improvise retirada que aumente o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Falha de passagem de caso é causa frequente de erro assistencial. Este módulo não é burocracia.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Treine a passagem de caso cronometrada: 30 segundos, MIST completo, sem repetição e sem omissão.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Treine o circuito fechado em simulado. Sem confirmação de conclusão, a ordem não foi executada.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como revisão oral: cubra a coluna da direita e peça que a turma complete cada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reforçando a revisão periódica, os simulados e a checagem do material disponível na 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Preencha o campo de protocolo local antes de aplicar o treinamento em cada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1280160" cy="1280160"/>
          </a:xfrm>
          <a:prstGeom prst="roundRect">
            <a:avLst>
              <a:gd name="adj" fmla="val 10000"/>
            </a:avLst>
          </a:prstGeom>
          <a:solidFill>
            <a:srgbClr val="0E6E7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087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743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CORPORATIVO • 2026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063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SOCORROS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F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2 — ATENDIMENTO PRÉ-HOSPITALAR TÉCNICO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XABCDE • Trauma específico • Emergências ambientais e obstétricas • Comunicação e registro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 Engenharia  •  Instrutor: Eng. Armando Gomes — CREA-SP 5069609380  •  Rev. 00 / setembro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tudo: limite de habilitação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apresenta condutas que exigem formação e autorização específicas.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2 — APH Técnico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063240" y="1280160"/>
            <a:ext cx="6035040" cy="2103120"/>
          </a:xfrm>
          <a:prstGeom prst="roundRect">
            <a:avLst>
              <a:gd name="adj" fmla="val 3478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64408" y="138988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 — Degraus de capacitação e o que cada um autoriza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6696" y="1737360"/>
            <a:ext cx="3168127" cy="1417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5661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6F2EB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3075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43584" y="373075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Nível 1 faz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4206240"/>
            <a:ext cx="31638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segura e avaliação inicial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 e DEA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Hemorragia e torniquete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Acionamento 192 / 193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97680" y="35661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3F0F0"/>
          </a:solidFill>
          <a:ln w="12700">
            <a:solidFill>
              <a:srgbClr val="0E6E7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73075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92624" y="373075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exige Nível 2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4498848" y="4206240"/>
            <a:ext cx="31638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XABCDE completa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Imobilização e transporte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Curativo oclusivo valvulado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Passagem de caso estruturada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046720" y="35661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73075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741664" y="373075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escopo de todos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8247888" y="4206240"/>
            <a:ext cx="31638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Medicação sem protocolo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invasivo sem habilitação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Improvisar resgate técnico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normativa e técnica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deve conversar com o PGR, o plano de emergência e a regulação médica local.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MTE NR-1, NR-10, NR-35; AHA 2025; AHA/ARC 2024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463040"/>
            <a:ext cx="4910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NR-1 — item 1.5.6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938528"/>
            <a:ext cx="54041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de resposta a emergências, com meios, responsáveis e recursos para primeiros socorros.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359152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2374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43584" y="2523744"/>
            <a:ext cx="4910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NR-10 — item 10.12.2 (vigente)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2999232"/>
            <a:ext cx="54041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Trabalhador autorizado apto a executar resgate e prestar primeiros socorros, especialmente RCP.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419856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3584448"/>
            <a:ext cx="4910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NR-35 — item 35.7.3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749808" y="4059936"/>
            <a:ext cx="54041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executa salvamento deve ser capacitado para resgate e primeiros socorros.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480560"/>
            <a:ext cx="5806440" cy="960120"/>
          </a:xfrm>
          <a:prstGeom prst="roundRect">
            <a:avLst>
              <a:gd name="adj" fmla="val 7619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451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43584" y="4645152"/>
            <a:ext cx="4910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Referenciais clínicos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749808" y="5120640"/>
            <a:ext cx="54041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2025 (CPR &amp; ECC) e AHA/Cruz Vermelha Americana 2024 (First Aid).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583680" y="1298448"/>
            <a:ext cx="5029200" cy="2926080"/>
          </a:xfrm>
          <a:prstGeom prst="roundRect">
            <a:avLst>
              <a:gd name="adj" fmla="val 2500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784848" y="140817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2 — Referências que sustentam o treinamento</a:t>
            </a:r>
            <a:endParaRPr lang="en-US" sz="10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883183"/>
            <a:ext cx="4572000" cy="1985211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583680" y="4389120"/>
            <a:ext cx="5029200" cy="1170432"/>
          </a:xfrm>
          <a:prstGeom prst="roundRect">
            <a:avLst>
              <a:gd name="adj" fmla="val 5469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80060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68896" y="4434840"/>
            <a:ext cx="424281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 da NR-10: novo texto pela Portaria MTE nº 737/2026, vigência em 01/06/2027. Em setembro de 2026 o texto anterior segue vigente.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0E6E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2240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XABCDE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que organiza o atendimento ao trauma e evita que o socorrista perca o que mata primeiro.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149840" y="23317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XABCDE — a sequência completa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e trate cada letra antes de passar para a próxima. Reavalie sempre que o quadro mudar.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protocolos de atendimento ao trauma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6309360" cy="713232"/>
          </a:xfrm>
          <a:prstGeom prst="roundRect">
            <a:avLst>
              <a:gd name="adj" fmla="val 769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8988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B326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1362456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Hemorragia exsanguinante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27632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o sangramento que ameaça a vida agora.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84832"/>
            <a:ext cx="6309360" cy="713232"/>
          </a:xfrm>
          <a:prstGeom prst="roundRect">
            <a:avLst>
              <a:gd name="adj" fmla="val 769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17627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0E6E7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176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148840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aérea e coluna cervical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414016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 manter a via aérea com controle da coluna.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71216"/>
            <a:ext cx="6309360" cy="713232"/>
          </a:xfrm>
          <a:prstGeom prst="roundRect">
            <a:avLst>
              <a:gd name="adj" fmla="val 769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96265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0E6E7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9626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2935224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Ventilação e respiração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200400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Esforço, frequência, simetria e expansão torácica.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6309360" cy="713232"/>
          </a:xfrm>
          <a:prstGeom prst="roundRect">
            <a:avLst>
              <a:gd name="adj" fmla="val 769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74904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0E6E7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749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721608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Circulação e perfusão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3986784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Pulso, pele, enchimento capilar e sinais de choque.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443984"/>
            <a:ext cx="6309360" cy="713232"/>
          </a:xfrm>
          <a:prstGeom prst="roundRect">
            <a:avLst>
              <a:gd name="adj" fmla="val 769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53542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0E6E7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4535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261872" y="4507992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neurológico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4773168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consciência (AVDI), pupilas e déficit motor.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230368"/>
            <a:ext cx="6309360" cy="713232"/>
          </a:xfrm>
          <a:prstGeom prst="roundRect">
            <a:avLst>
              <a:gd name="adj" fmla="val 769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532180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0E6E7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" y="53218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261872" y="5294376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e ambiente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261872" y="5559552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 para avaliar e prevenir hipotermia.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86600" y="1298448"/>
            <a:ext cx="4526280" cy="4718304"/>
          </a:xfrm>
          <a:prstGeom prst="roundRect">
            <a:avLst>
              <a:gd name="adj" fmla="val 1616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87768" y="1408176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3 — Mapa corporal da sequência XABCDE</a:t>
            </a:r>
            <a:endParaRPr lang="en-US" sz="105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513698"/>
            <a:ext cx="4069080" cy="2516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— Hemorragia exsanguinante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sangramento que mata em minutos é tratado antes da via aérea.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AHA/ARC 2024 — controle de sangramento grave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760720" cy="2194560"/>
          </a:xfrm>
          <a:prstGeom prst="roundRect">
            <a:avLst>
              <a:gd name="adj" fmla="val 3333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4630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938528"/>
            <a:ext cx="53583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Sangue formando poça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rápido ou em jato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Roupas rapidamente encharcadas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Sangramento que não cessa com pressão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Sonolência, palidez ou perda de consciência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5760720" cy="2011680"/>
          </a:xfrm>
          <a:prstGeom prst="roundRect">
            <a:avLst>
              <a:gd name="adj" fmla="val 363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221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43584" y="382219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Escalonamento da conduta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4297680"/>
            <a:ext cx="53583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Pressão manual direta, forte e mantida</a:t>
            </a:r>
            <a:endParaRPr lang="en-US" sz="1100" dirty="0"/>
          </a:p>
          <a:p>
            <a:pPr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Curativo compressivo</a:t>
            </a:r>
            <a:endParaRPr lang="en-US" sz="1100" dirty="0"/>
          </a:p>
          <a:p>
            <a:pPr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Packing com hemostático, quando treinado</a:t>
            </a:r>
            <a:endParaRPr lang="en-US" sz="1100" dirty="0"/>
          </a:p>
          <a:p>
            <a:pPr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Torniquete em membro, com horário anotado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583680" y="1298448"/>
            <a:ext cx="5029200" cy="4370832"/>
          </a:xfrm>
          <a:prstGeom prst="roundRect">
            <a:avLst>
              <a:gd name="adj" fmla="val 1674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784848" y="140817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4 — Torniquete e pressão direta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304769"/>
            <a:ext cx="4572000" cy="25867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Via aérea com controle de coluna cervical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 via aérea sem criar uma segunda lesão.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protocolos de trauma; AHA 2025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760720" cy="1691640"/>
          </a:xfrm>
          <a:prstGeom prst="roundRect">
            <a:avLst>
              <a:gd name="adj" fmla="val 432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4630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938528"/>
            <a:ext cx="53583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vítima fala? Fala clara indica via aérea pérvia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Ruídos: ronco, gorgolejo, estridor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Secreção, sangue ou corpo estranho visível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5760720" cy="1691640"/>
          </a:xfrm>
          <a:prstGeom prst="roundRect">
            <a:avLst>
              <a:gd name="adj" fmla="val 432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9184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43584" y="32918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Intervir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767328"/>
            <a:ext cx="53583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Elevação do mento ou tração da mandíbula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Aspiração quando disponível e indicada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de via aérea somente com habilitação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956048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12064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51206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749808" y="5596128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Varredura cega • hiperextensão em trauma • retirar capacete sem equipe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583680" y="1298448"/>
            <a:ext cx="5029200" cy="4754880"/>
          </a:xfrm>
          <a:prstGeom prst="roundRect">
            <a:avLst>
              <a:gd name="adj" fmla="val 1538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784848" y="140817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5 — Tração de mandíbula com estabilização manual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622340"/>
            <a:ext cx="4572000" cy="23356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Ventilação e respiração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como a vítima respira, não apenas se respira.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protocolos de trauma; AHA 2025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760720" cy="2103120"/>
          </a:xfrm>
          <a:prstGeom prst="roundRect">
            <a:avLst>
              <a:gd name="adj" fmla="val 347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4630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avaliar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938528"/>
            <a:ext cx="53583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e ritmo respiratório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Esforço: tiragem e musculatura acessória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Simetria e expansão do tórax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Coloração de pele e mucosas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307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43584" y="373075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gravidade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4206240"/>
            <a:ext cx="535838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Tórax assimétrico ou instável • cianose • ferida torácica aspirativa • agitação ou rebaixamento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512064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3F0F0"/>
          </a:solidFill>
          <a:ln w="12700">
            <a:solidFill>
              <a:srgbClr val="0E6E7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28523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528523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frequência, saturação e resposta após cada intervenção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583680" y="1298448"/>
            <a:ext cx="5029200" cy="4736592"/>
          </a:xfrm>
          <a:prstGeom prst="roundRect">
            <a:avLst>
              <a:gd name="adj" fmla="val 1544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784848" y="140817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6 — Expansão torácica e sinais de alerta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688844"/>
            <a:ext cx="4572000" cy="218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Circulação e perfusão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choque antes que a pressão caia.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AHA/ARC 2024; protocolos de trauma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760720" cy="1965960"/>
          </a:xfrm>
          <a:prstGeom prst="roundRect">
            <a:avLst>
              <a:gd name="adj" fmla="val 37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4630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avaliar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938528"/>
            <a:ext cx="53583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Pulso: presença, frequência e qualidade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Pele: cor, temperatura e umidade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enchimento capilar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Sangramentos ainda ativos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5760720" cy="1965960"/>
          </a:xfrm>
          <a:prstGeom prst="roundRect">
            <a:avLst>
              <a:gd name="adj" fmla="val 3721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935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43584" y="359359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choque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4069080"/>
            <a:ext cx="53583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Palidez, pele fria e úmida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rápido e fino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Respiração rápida, sede e náusea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Confusão, agitação ou sonolência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5559552"/>
            <a:ext cx="5760720" cy="502920"/>
          </a:xfrm>
          <a:prstGeom prst="roundRect">
            <a:avLst>
              <a:gd name="adj" fmla="val 12727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3727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33856" y="5605272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de pressão é sinal tardio no adulto — não espere por ela.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583680" y="1298448"/>
            <a:ext cx="5029200" cy="4754880"/>
          </a:xfrm>
          <a:prstGeom prst="roundRect">
            <a:avLst>
              <a:gd name="adj" fmla="val 1538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784848" y="140817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7 — Enchimento capilar, pulso e pele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496793"/>
            <a:ext cx="4572000" cy="25867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Estado neurológico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avaliação curta, repetida e registrada vale mais que uma avaliação longa e única.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protocolos de trauma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61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AVDI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760720" cy="694944"/>
          </a:xfrm>
          <a:prstGeom prst="roundRect">
            <a:avLst>
              <a:gd name="adj" fmla="val 789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E6E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166420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43584" y="1929384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Acordado e orientado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68296"/>
            <a:ext cx="5760720" cy="694944"/>
          </a:xfrm>
          <a:prstGeom prst="roundRect">
            <a:avLst>
              <a:gd name="adj" fmla="val 789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459736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E6E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4597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43584" y="2432304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43584" y="269748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ao estímulo verbal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36392"/>
            <a:ext cx="5760720" cy="694944"/>
          </a:xfrm>
          <a:prstGeom prst="roundRect">
            <a:avLst>
              <a:gd name="adj" fmla="val 789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227832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0E6E7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227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43584" y="320040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43584" y="3465576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apenas ao estímulo doloroso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04488"/>
            <a:ext cx="5760720" cy="694944"/>
          </a:xfrm>
          <a:prstGeom prst="roundRect">
            <a:avLst>
              <a:gd name="adj" fmla="val 7895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995928"/>
            <a:ext cx="512064" cy="512064"/>
          </a:xfrm>
          <a:prstGeom prst="roundRect">
            <a:avLst>
              <a:gd name="adj" fmla="val 10714"/>
            </a:avLst>
          </a:prstGeom>
          <a:solidFill>
            <a:srgbClr val="B3261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243584" y="3968496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Irresponsivo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43584" y="4233672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responde a nenhum estímulo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965192"/>
            <a:ext cx="402336" cy="402336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243584" y="496519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avaliar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749808" y="5440680"/>
            <a:ext cx="53583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e movimento nos quatro membros • glicemia capilar quando protocolado • duração da convulsão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583680" y="1298448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84848" y="140817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8 — Avaliação pupilar</a:t>
            </a:r>
            <a:endParaRPr lang="en-US" sz="10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064860"/>
            <a:ext cx="4572000" cy="1804737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6583680" y="4572000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736592"/>
            <a:ext cx="402336" cy="402336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7278624" y="4736592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neurológico</a:t>
            </a:r>
            <a:endParaRPr lang="en-US" sz="1350" dirty="0"/>
          </a:p>
        </p:txBody>
      </p:sp>
      <p:sp>
        <p:nvSpPr>
          <p:cNvPr id="36" name="Text 31"/>
          <p:cNvSpPr txBox="1"/>
          <p:nvPr/>
        </p:nvSpPr>
        <p:spPr>
          <a:xfrm>
            <a:off x="6784848" y="5212080"/>
            <a:ext cx="4626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Piora progressiva do nível de consciência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Pupilas assimétricas ou déficit motor novo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critério de transporte prioritário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Exposição e controle do ambiente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 o suficiente para avaliar e, imediatamente depois, proteger.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protocolos de trauma; AHA/ARC 2024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46304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 para avaliar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938528"/>
            <a:ext cx="325526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Lesões ocultas: dorso, axilas, períneo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 saída em ferimento penetrante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a roupa quando necessário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298448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E3F0F0"/>
          </a:solidFill>
          <a:ln w="12700">
            <a:solidFill>
              <a:srgbClr val="0E6E7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6304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84064" y="146304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hipotermia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4590288" y="1938528"/>
            <a:ext cx="325526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roupa molhada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 do solo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térmica precoce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Aquecer o compartimento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1298448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6304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924544" y="146304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Preservar a pessoa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8430768" y="1938528"/>
            <a:ext cx="29809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 pelo menor tempo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 privacidade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pertences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3611880"/>
            <a:ext cx="5120640" cy="2423160"/>
          </a:xfrm>
          <a:prstGeom prst="roundRect">
            <a:avLst>
              <a:gd name="adj" fmla="val 3019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49808" y="3721608"/>
            <a:ext cx="4718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9 — Isolamento do solo e cobertura térmica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468" y="4069080"/>
            <a:ext cx="3300984" cy="17373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943600" y="361188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FBF1DF"/>
          </a:solidFill>
          <a:ln w="12700">
            <a:solidFill>
              <a:srgbClr val="B3740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77647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638544" y="3776472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importa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6144768" y="4251960"/>
            <a:ext cx="5266944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resfriamento piora a coagulação e agrava o sangramento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perda de calor começa no chão, no vento e na roupa molhada, mesmo em dia quente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Reavalie o conforto térmico a cada etapa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0E6E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2240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ESPECÍFICO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Ferimentos penetrantes, objeto empalado, lesões de tórax e abdome, e as particularidades do trauma pediátrico.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149840" y="23317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Ferimentos penetrantes e objeto empalado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lesão externa não indica a extensão interna.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protocolos de trauma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760720" cy="1874520"/>
          </a:xfrm>
          <a:prstGeom prst="roundRect">
            <a:avLst>
              <a:gd name="adj" fmla="val 3902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4630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antes de tudo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938528"/>
            <a:ext cx="53583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Aguardar liberação da segurança pública quando houver risco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 completo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mecanismo sem tocar em armas ou evidências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021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43584" y="350215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977640"/>
            <a:ext cx="535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XABCDE • procurar entrada e possível saída • não explorar a ferida nem medir profundidade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892040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E3F0F0"/>
          </a:solidFill>
          <a:ln w="12700">
            <a:solidFill>
              <a:srgbClr val="0E6E7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5663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505663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empalado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749808" y="5532120"/>
            <a:ext cx="53583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retirar • NÃO pressionar sobre o objeto • estabilizar ao redor e transportar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583680" y="1298448"/>
            <a:ext cx="5029200" cy="4736592"/>
          </a:xfrm>
          <a:prstGeom prst="roundRect">
            <a:avLst>
              <a:gd name="adj" fmla="val 1544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784848" y="140817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10 — Estabilização de objeto empalado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487649"/>
            <a:ext cx="4572000" cy="25867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Lesões de tórax e abdome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condutas específicas que precisam de material próprio e reavaliação imediata.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protocolos de trauma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88920" y="1280160"/>
            <a:ext cx="6583680" cy="2606040"/>
          </a:xfrm>
          <a:prstGeom prst="roundRect">
            <a:avLst>
              <a:gd name="adj" fmla="val 2807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90088" y="1389888"/>
            <a:ext cx="6181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11 — Ferida torácica aberta e evisceração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6532" y="1737360"/>
            <a:ext cx="3648456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0690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3367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43584" y="4233672"/>
            <a:ext cx="4544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Ferida torácica aberta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4709160"/>
            <a:ext cx="503834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Curativo oclusivo valvulado conforme protocolo e material disponível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Reavaliar a respiração imediatamente após aplicar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Piora respiratória após o curativo: reavaliar e agir conforme protocolo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72200" y="40690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23367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67144" y="4233672"/>
            <a:ext cx="4544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Evisceração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6373368" y="4709160"/>
            <a:ext cx="503834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Cobrir com compressa estéril úmida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recolocar órgãos e NÃO usar material aderente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hipotermia e transportar com prioridade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pediátrico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não é um adulto pequeno: a anatomia muda a avaliação e o equipamento.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protocolos pediátricos de trauma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760720" cy="2148840"/>
          </a:xfrm>
          <a:prstGeom prst="roundRect">
            <a:avLst>
              <a:gd name="adj" fmla="val 340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4630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que mudam a conduta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938528"/>
            <a:ext cx="5358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 proporcionalmente maior — tende a flexionar a via aérea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aérea mais estreita — pequeno edema obstrui muito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Tórax flexível — lesão interna sem fratura de costela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 bem o choque e descompensa de repente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61188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7647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43584" y="377647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4251960"/>
            <a:ext cx="5358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hiperestenda o pescoço do lactente • equipamento de adulto causa lesão • hipotermia se instala mais rápido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5138928"/>
            <a:ext cx="5760720" cy="896112"/>
          </a:xfrm>
          <a:prstGeom prst="roundRect">
            <a:avLst>
              <a:gd name="adj" fmla="val 8163"/>
            </a:avLst>
          </a:prstGeom>
          <a:solidFill>
            <a:srgbClr val="E3F0F0"/>
          </a:solidFill>
          <a:ln w="12700">
            <a:solidFill>
              <a:srgbClr val="0E6E7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30352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530352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 pediátrica orienta material e dose conforme protocolo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583680" y="1298448"/>
            <a:ext cx="5029200" cy="4736592"/>
          </a:xfrm>
          <a:prstGeom prst="roundRect">
            <a:avLst>
              <a:gd name="adj" fmla="val 1544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784848" y="140817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12 — Proporção da cabeça e alinhamento da via aérea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517728"/>
            <a:ext cx="4572000" cy="25266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0E6E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2240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EMERGÊNCIAS CLÍNICAS E AMBIENTAIS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Emergências obstétricas, alterações por temperatura e atendimento em ambientes remotos.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149840" y="23317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Emergências obstétricas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Hemorragia, pré-eclâmpsia e eclâmpsia — reconhecer e transportar com prioridade.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protocolos obstétricos de emergência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760720" cy="1874520"/>
          </a:xfrm>
          <a:prstGeom prst="roundRect">
            <a:avLst>
              <a:gd name="adj" fmla="val 3902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4630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Hemorragia na gestação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938528"/>
            <a:ext cx="53583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Sangramento vaginal, dor abdominal, rigidez, tontura, choque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Absorvente ou compressa EXTERNA — nunca tamponamento vaginal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Quantificar visualmente, monitorar e transportar com prioridade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5760720" cy="1463040"/>
          </a:xfrm>
          <a:prstGeom prst="roundRect">
            <a:avLst>
              <a:gd name="adj" fmla="val 5000"/>
            </a:avLst>
          </a:prstGeom>
          <a:solidFill>
            <a:srgbClr val="FBF1DF"/>
          </a:solidFill>
          <a:ln w="12700">
            <a:solidFill>
              <a:srgbClr val="B374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021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43584" y="350215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Pré-eclâmpsia — sinais de gravidade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977640"/>
            <a:ext cx="5358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elevada • cefaleia intensa • alterações visuais • dor epigástrica • edema súbito • falta de ar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98348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14807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5148072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Pós-parto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749808" y="5623560"/>
            <a:ext cx="5358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Hemorragia intensa, útero amolecido, palidez e sinais de choque — transporte rápido com maternidade avisada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583680" y="1298448"/>
            <a:ext cx="5029200" cy="3017520"/>
          </a:xfrm>
          <a:prstGeom prst="roundRect">
            <a:avLst>
              <a:gd name="adj" fmla="val 2424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784848" y="140817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13 — Eclâmpsia: proteção e decúbito lateral esquerdo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146" y="1755648"/>
            <a:ext cx="4430268" cy="23317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583680" y="448056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464515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78624" y="4645152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Eclâmpsia — convulsão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6784848" y="5120640"/>
            <a:ext cx="4626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de traumas; NÃO conter à força; NADA na boca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 duração e transportar com prioridade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 apenas por equipe habilitada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Emergências por temperatura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Hipotermia, exaustão pelo calor e insolação — a alteração mental separa o grave do gravíssimo.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AHA/ARC 2024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0" y="1280160"/>
            <a:ext cx="5760720" cy="2286000"/>
          </a:xfrm>
          <a:prstGeom prst="roundRect">
            <a:avLst>
              <a:gd name="adj" fmla="val 3200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401568" y="1389888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14 — Espectro térmico e sinais de cada quadro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0570" y="1737360"/>
            <a:ext cx="3040380" cy="1600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E8F1F8"/>
          </a:solidFill>
          <a:ln w="12700">
            <a:solidFill>
              <a:srgbClr val="1F6FB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1363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43584" y="391363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Hipotermia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4389120"/>
            <a:ext cx="31638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roupas molhadas e secar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 do chão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Cobrir tronco e cabeça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Manusear com cuidado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usar banho muito quente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97680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BF1DF"/>
          </a:solidFill>
          <a:ln w="12700">
            <a:solidFill>
              <a:srgbClr val="B374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91363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92624" y="391363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Exaustão pelo calor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4498848" y="4389120"/>
            <a:ext cx="31638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à sombra ou local fresco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Retirar excesso de roupa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Resfriar com pano úmido e ventilação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Líquidos só se consciente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046720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91363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741664" y="391363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Insolação — emergência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8247888" y="4389120"/>
            <a:ext cx="31638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Acionar o SAMU 192 imediatamente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Resfriamento rápido com água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Compressas em pescoço, axilas e virilhas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oferecer líquidos a paciente confuso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Emergências em ambientes remotos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 longo muda a prioridade: proteção ambiental e cuidado prolongado.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protocolos de atendimento em área remota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760720" cy="1691640"/>
          </a:xfrm>
          <a:prstGeom prst="roundRect">
            <a:avLst>
              <a:gd name="adj" fmla="val 4324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4630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localização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938528"/>
            <a:ext cx="53583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clima, terreno e risco de queda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coordenadas e informar rota e acesso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comunicação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5760720" cy="1463040"/>
          </a:xfrm>
          <a:prstGeom prst="roundRect">
            <a:avLst>
              <a:gd name="adj" fmla="val 50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9184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43584" y="329184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do ambiente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767328"/>
            <a:ext cx="53583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Abrigo, isolamento do solo e retirada de roupa molhada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Aquecer gradualmente e proteger do sol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70916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7375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4873752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Evacuação urgente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749808" y="5349240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Instabilidade, alteração neurológica, dificuldade respiratória, sangramento não controlado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520440" y="470916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E6F2EB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87375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215384" y="4873752"/>
            <a:ext cx="1892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Evacuação planejada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3721608" y="5349240"/>
            <a:ext cx="23865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estável, rota segura, equipe e recursos adequados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583680" y="1298448"/>
            <a:ext cx="5029200" cy="4736592"/>
          </a:xfrm>
          <a:prstGeom prst="roundRect">
            <a:avLst>
              <a:gd name="adj" fmla="val 1544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784848" y="1408176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15 — Localização, abrigo e isolamento térmico</a:t>
            </a:r>
            <a:endParaRPr lang="en-US" sz="10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577886"/>
            <a:ext cx="4572000" cy="24063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0E6E7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2240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 REGISTRO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23317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é comunicado e registrado se perde — e a perda recai sobre o paciente.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149840" y="23317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pelo rádio e passagem de caso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devagar, seja objetivo e confirme o recebimento.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boas práticas de comunicação em APH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43584" y="1463040"/>
            <a:ext cx="4498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pelo rádio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938528"/>
            <a:ext cx="49926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da equipe e do local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ocorrência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e condição das vítimas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necessários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ou ponto de encontro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79476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3904488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16 — Passagem de caso entre equipes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627" y="4251960"/>
            <a:ext cx="3192986" cy="1554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0" y="12618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Passagem de caso — MIST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17920" y="160020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169164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63A5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3093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6967728" y="166420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e mecanismo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967728" y="1929384"/>
            <a:ext cx="4462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 e como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242316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2514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63A5C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30936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967728" y="248716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Injúrias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967728" y="2752344"/>
            <a:ext cx="4462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Lesões e informações relevantes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217920" y="324612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09360" y="33375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63A5C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30936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6967728" y="331012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vitais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967728" y="3575304"/>
            <a:ext cx="4462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Valores, horários e evolução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217920" y="406908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309360" y="41605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163A5C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30936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6967728" y="413308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Tratamentos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967728" y="4398264"/>
            <a:ext cx="4462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feito e a resposta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217920" y="5029200"/>
            <a:ext cx="5394960" cy="548640"/>
          </a:xfrm>
          <a:prstGeom prst="roundRect">
            <a:avLst>
              <a:gd name="adj" fmla="val 11667"/>
            </a:avLst>
          </a:prstGeom>
          <a:solidFill>
            <a:srgbClr val="FBEAE8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129784"/>
            <a:ext cx="347472" cy="34747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803136" y="5074920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rádio aberto, compartilhe somente os dados pessoais indispensáveis.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fechado e registro assistencial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claro protege o paciente, a equipe e a continuidade do cuidado.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boas práticas de documentação em APH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063240" y="1280160"/>
            <a:ext cx="6035040" cy="2148840"/>
          </a:xfrm>
          <a:prstGeom prst="roundRect">
            <a:avLst>
              <a:gd name="adj" fmla="val 3404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64408" y="1389888"/>
            <a:ext cx="5632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17 — Comunicação em circuito fechado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96047" y="1737360"/>
            <a:ext cx="3369425" cy="1463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61188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7647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43584" y="37764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4251960"/>
            <a:ext cx="31638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e chegada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das intervenções e torniquete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Reavaliações seriadas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97680" y="361188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77647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92624" y="37764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4498848" y="4251960"/>
            <a:ext cx="31638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e materiais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Medicamentos: dose, via e horário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do paciente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046720" y="361188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776472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741664" y="3776472"/>
            <a:ext cx="2670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8247888" y="4251960"/>
            <a:ext cx="31638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e profissional receptor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Pertences e documentos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e orientações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6F2EB"/>
          </a:solidFill>
          <a:ln w="12700">
            <a:solidFill>
              <a:srgbClr val="1E6B45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468112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43584" y="5468112"/>
            <a:ext cx="10168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omita pioras, intervenções ou horários — inclusive o que não deu certo.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Quadro-resumo do Nível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estar automático ao final do treinamento.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2 — APH Técnico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1F5F8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XABCDE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3716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hemorragia • A via aérea e coluna • B ventilação • C circulação • D neurológico • E exposição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9659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Hemorragia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9659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direta → curativo compressivo → packing com hemostático → torniquete, com horário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1F5F8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56032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empalado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5603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retirar, não pressionar, estabilizar ao redor e transportar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1546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Ferida torácica aberta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0" y="315468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Curativo oclusivo valvulado conforme protocolo e reavaliação imediata da respiração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1F5F8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74904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Pediátrico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374904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hiperestender o pescoço do lactente; material por tamanho; reavaliação seriada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34340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Gestante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3434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toque vaginal, sem tamponamento, sem atrasar o transporte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1F5F8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9377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49377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mental no calor = emergência; resfriar imediatamente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532120"/>
            <a:ext cx="1106424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53212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0" y="55321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 na passagem de caso e circuito fechado em toda ordem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651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NÍVEL TÉCNICO NÃO COMEÇA NA TÉCNICA.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429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em saber o que você está autorizado a fazer, com que material, e em qual momento parar e acionar quem tem competência.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 Engenharia • Eng. Armando Gomes — CREA-SP 5069609380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técnicas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consultadas para a construção do material.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00 — setembro de 2026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7132320" cy="3291840"/>
          </a:xfrm>
          <a:prstGeom prst="roundRect">
            <a:avLst>
              <a:gd name="adj" fmla="val 2222"/>
            </a:avLst>
          </a:prstGeom>
          <a:solidFill>
            <a:srgbClr val="F1F5F8"/>
          </a:solidFill>
          <a:ln w="12700">
            <a:solidFill>
              <a:srgbClr val="F1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444752"/>
            <a:ext cx="67299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Heart Association — 2025 Guidelines for CPR and ECC: Adult BLS, Pediatric BLS e circunstâncias especiais.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Heart Association e American Red Cross — 2024 Guidelines for First Aid.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do Trabalho e Emprego — NR-1, item 1.5.6.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do Trabalho e Emprego — NR-10, texto vigente em setembro de 2026, item 10.12; novo texto pela Portaria MTE nº 737/2026, vigência em 01/06/2027.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do Trabalho e Emprego — NR-35, item 35.7 — Emergência e Salvamento.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da Saúde — SAMU 192: acionamento e atendimento pré-hospitalar.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institucionais de trauma e regulação médica local: [PREENCHER conforme a unidade].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955280" y="1298448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AFCFD"/>
          </a:solidFill>
          <a:ln w="12700">
            <a:solidFill>
              <a:srgbClr val="DCE5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56448" y="1408176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 antes de aplicar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2372868"/>
            <a:ext cx="3200400" cy="1371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BF1DF"/>
          </a:solidFill>
          <a:ln w="12700">
            <a:solidFill>
              <a:srgbClr val="B374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9651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43584" y="4965192"/>
            <a:ext cx="10168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 técnica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49808" y="5440680"/>
            <a:ext cx="106619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capacitação interna. Ilustrações técnicas originais produzidas para este treinamento, de caráter esquemático — não substituem demonstração prática nem material fotográfico de referência. O conteúdo não substitui prática supervisionada, protocolo institucional, regulação médica nem habilitação profissional para atendimento pré-hospitalar.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Primeiros Socorros - Nivel 2 (APH Tecnico)</dc:title>
  <dc:subject>PptxGenJS Presentation</dc:subject>
  <dc:creator>FIC Engenharia - Eng. Armando Gomes</dc:creator>
  <cp:lastModifiedBy>FIC Engenharia - Eng. Armando Gomes</cp:lastModifiedBy>
  <cp:revision>1</cp:revision>
  <dcterms:created xsi:type="dcterms:W3CDTF">2026-09-07T22:48:51Z</dcterms:created>
  <dcterms:modified xsi:type="dcterms:W3CDTF">2026-09-07T22:48:51Z</dcterms:modified>
</cp:coreProperties>
</file>